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  <p:sldMasterId id="2147483712" r:id="rId5"/>
    <p:sldMasterId id="2147483724" r:id="rId6"/>
  </p:sldMasterIdLst>
  <p:notesMasterIdLst>
    <p:notesMasterId r:id="rId19"/>
  </p:notesMasterIdLst>
  <p:handoutMasterIdLst>
    <p:handoutMasterId r:id="rId20"/>
  </p:handoutMasterIdLst>
  <p:sldIdLst>
    <p:sldId id="410" r:id="rId7"/>
    <p:sldId id="383" r:id="rId8"/>
    <p:sldId id="4086" r:id="rId9"/>
    <p:sldId id="4083" r:id="rId10"/>
    <p:sldId id="256" r:id="rId11"/>
    <p:sldId id="4080" r:id="rId12"/>
    <p:sldId id="414" r:id="rId13"/>
    <p:sldId id="4078" r:id="rId14"/>
    <p:sldId id="412" r:id="rId15"/>
    <p:sldId id="4081" r:id="rId16"/>
    <p:sldId id="4082" r:id="rId17"/>
    <p:sldId id="4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1037DD-E1A2-4016-924D-A992EC0475CC}">
          <p14:sldIdLst>
            <p14:sldId id="410"/>
            <p14:sldId id="383"/>
          </p14:sldIdLst>
        </p14:section>
        <p14:section name="Untitled Section" id="{2B739874-3C66-4FE2-8CB9-F1877717D912}">
          <p14:sldIdLst>
            <p14:sldId id="4086"/>
            <p14:sldId id="4083"/>
            <p14:sldId id="256"/>
            <p14:sldId id="4080"/>
            <p14:sldId id="414"/>
            <p14:sldId id="4078"/>
            <p14:sldId id="412"/>
            <p14:sldId id="4081"/>
            <p14:sldId id="4082"/>
            <p14:sldId id="4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E2FF451E-C6C8-FE65-8FD7-C9E7969C2778}" name="Joycelyn Kathembe" initials="JK" userId="d91853d377799e22" providerId="Windows Live"/>
  <p188:author id="{DD70F88B-55C5-BD6D-9995-BA64D6A43A1D}" name="mwanajuma.khamis" initials="mk" userId="S::mwanajuma.khamis@aku.edu::027379fe-50ed-40f2-a1f9-e5e2d7ea6f7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7" autoAdjust="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Obanda" userId="fcf6196a-a832-4838-98be-7ada7d045e7e" providerId="ADAL" clId="{A460B33C-DF94-44DB-AC55-EABCFC563D97}"/>
    <pc:docChg chg="custSel modSld">
      <pc:chgData name="George Obanda" userId="fcf6196a-a832-4838-98be-7ada7d045e7e" providerId="ADAL" clId="{A460B33C-DF94-44DB-AC55-EABCFC563D97}" dt="2025-11-07T23:40:24.255" v="11" actId="14100"/>
      <pc:docMkLst>
        <pc:docMk/>
      </pc:docMkLst>
      <pc:sldChg chg="addSp delSp modSp mod">
        <pc:chgData name="George Obanda" userId="fcf6196a-a832-4838-98be-7ada7d045e7e" providerId="ADAL" clId="{A460B33C-DF94-44DB-AC55-EABCFC563D97}" dt="2025-11-07T23:40:24.255" v="11" actId="14100"/>
        <pc:sldMkLst>
          <pc:docMk/>
          <pc:sldMk cId="0" sldId="256"/>
        </pc:sldMkLst>
        <pc:spChg chg="mod">
          <ac:chgData name="George Obanda" userId="fcf6196a-a832-4838-98be-7ada7d045e7e" providerId="ADAL" clId="{A460B33C-DF94-44DB-AC55-EABCFC563D97}" dt="2025-11-07T23:34:48.605" v="9" actId="20577"/>
          <ac:spMkLst>
            <pc:docMk/>
            <pc:sldMk cId="0" sldId="256"/>
            <ac:spMk id="5" creationId="{00000000-0000-0000-0000-000000000000}"/>
          </ac:spMkLst>
        </pc:spChg>
        <pc:picChg chg="del">
          <ac:chgData name="George Obanda" userId="fcf6196a-a832-4838-98be-7ada7d045e7e" providerId="ADAL" clId="{A460B33C-DF94-44DB-AC55-EABCFC563D97}" dt="2025-11-07T23:34:14.472" v="1" actId="478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George Obanda" userId="fcf6196a-a832-4838-98be-7ada7d045e7e" providerId="ADAL" clId="{A460B33C-DF94-44DB-AC55-EABCFC563D97}" dt="2025-11-07T23:34:12.922" v="0" actId="478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George Obanda" userId="fcf6196a-a832-4838-98be-7ada7d045e7e" providerId="ADAL" clId="{A460B33C-DF94-44DB-AC55-EABCFC563D97}" dt="2025-11-07T23:40:24.255" v="11" actId="14100"/>
          <ac:picMkLst>
            <pc:docMk/>
            <pc:sldMk cId="0" sldId="256"/>
            <ac:picMk id="11" creationId="{986149D8-F339-B388-894D-6D0414C35244}"/>
          </ac:picMkLst>
        </pc:picChg>
      </pc:sldChg>
      <pc:sldChg chg="modSp mod">
        <pc:chgData name="George Obanda" userId="fcf6196a-a832-4838-98be-7ada7d045e7e" providerId="ADAL" clId="{A460B33C-DF94-44DB-AC55-EABCFC563D97}" dt="2025-11-07T23:36:48.562" v="10" actId="14100"/>
        <pc:sldMkLst>
          <pc:docMk/>
          <pc:sldMk cId="2747692168" sldId="4086"/>
        </pc:sldMkLst>
        <pc:picChg chg="mod">
          <ac:chgData name="George Obanda" userId="fcf6196a-a832-4838-98be-7ada7d045e7e" providerId="ADAL" clId="{A460B33C-DF94-44DB-AC55-EABCFC563D97}" dt="2025-11-07T23:36:48.562" v="10" actId="14100"/>
          <ac:picMkLst>
            <pc:docMk/>
            <pc:sldMk cId="2747692168" sldId="4086"/>
            <ac:picMk id="6" creationId="{0E83B8B2-A5B4-339A-7F78-78C9F47EB82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B5F01-2D49-D99E-B8D1-2085FF9D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31A84-B332-0A6C-B428-28C76F84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DA006-A31F-943B-26E9-E82395784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16940-3E8F-C815-806E-490B03248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61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D346-2BDB-BD56-BDC3-6036D6C7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BED1A-F999-F8EE-83A5-6D9341394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475A6-BED1-F5C0-A180-035F707C9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A674D-5E16-74F4-53A8-8F60F556D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913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100" b="0" dirty="0">
              <a:solidFill>
                <a:schemeClr val="bg1"/>
              </a:solidFill>
            </a:endParaRPr>
          </a:p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30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200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70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81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23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168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34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07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3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04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23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01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36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7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 dirty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284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8">
          <p15:clr>
            <a:srgbClr val="A4A3A4"/>
          </p15:clr>
        </p15:guide>
        <p15:guide id="3" pos="14398">
          <p15:clr>
            <a:srgbClr val="A4A3A4"/>
          </p15:clr>
        </p15:guide>
        <p15:guide id="4" pos="958">
          <p15:clr>
            <a:srgbClr val="A4A3A4"/>
          </p15:clr>
        </p15:guide>
        <p15:guide id="5" orient="horz" pos="8160">
          <p15:clr>
            <a:srgbClr val="A4A3A4"/>
          </p15:clr>
        </p15:guide>
        <p15:guide id="6" orient="horz" pos="48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447" y="110836"/>
            <a:ext cx="6947857" cy="6012873"/>
          </a:xfrm>
        </p:spPr>
        <p:txBody>
          <a:bodyPr/>
          <a:lstStyle/>
          <a:p>
            <a:r>
              <a:rPr lang="en-US" sz="4000" dirty="0"/>
              <a:t>Kilifi SCHMT Meeting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ARL-Low Birth Weight Infant Study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10 Nov 2025</a:t>
            </a: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2800" dirty="0"/>
              <a:t>Prepared and presented by;</a:t>
            </a:r>
            <a:br>
              <a:rPr lang="en-US" sz="2800" dirty="0"/>
            </a:br>
            <a:r>
              <a:rPr lang="en-US" sz="2800" dirty="0"/>
              <a:t>ARL-LBW team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5" name="Picture Placeholder 5" descr="A logo of a person holding a baby&#10;&#10;AI-generated content may be incorrect.">
            <a:extLst>
              <a:ext uri="{FF2B5EF4-FFF2-40B4-BE49-F238E27FC236}">
                <a16:creationId xmlns:a16="http://schemas.microsoft.com/office/drawing/2014/main" id="{48744029-889F-1795-A45B-CC9B12444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96" y="3550478"/>
            <a:ext cx="3207475" cy="30462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sz="2800" dirty="0"/>
              <a:t>Opening remarks</a:t>
            </a:r>
          </a:p>
          <a:p>
            <a:r>
              <a:rPr lang="en-US" sz="2800" dirty="0"/>
              <a:t>Study progress updates</a:t>
            </a:r>
          </a:p>
          <a:p>
            <a:r>
              <a:rPr lang="en-US" sz="2800" dirty="0"/>
              <a:t>Main discussion</a:t>
            </a:r>
          </a:p>
          <a:p>
            <a:pPr lvl="1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Peer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</a:rPr>
              <a:t>mother recruitment</a:t>
            </a:r>
            <a:endParaRPr lang="en-US" sz="2800" dirty="0"/>
          </a:p>
          <a:p>
            <a:r>
              <a:rPr lang="en-US" sz="2800" dirty="0"/>
              <a:t>Closing remarks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F983-A6BA-0CB7-23C4-F60C035F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progress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83B8B2-A5B4-339A-7F78-78C9F47EB8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97442" y="1772725"/>
            <a:ext cx="11153766" cy="488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9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0F2B-95F0-18DE-9A79-EF25D68A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AB5F0D-17E6-D56C-1E2B-35BAA6E9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9"/>
            <a:ext cx="10972800" cy="981806"/>
          </a:xfrm>
        </p:spPr>
        <p:txBody>
          <a:bodyPr anchor="b">
            <a:normAutofit/>
          </a:bodyPr>
          <a:lstStyle/>
          <a:p>
            <a:r>
              <a:rPr lang="en-US" dirty="0"/>
              <a:t>Study progress cont’d…</a:t>
            </a:r>
          </a:p>
        </p:txBody>
      </p:sp>
      <p:pic>
        <p:nvPicPr>
          <p:cNvPr id="2" name="Picture Placeholder 5" descr="A logo of a person holding a baby&#10;&#10;AI-generated content may be incorrect.">
            <a:extLst>
              <a:ext uri="{FF2B5EF4-FFF2-40B4-BE49-F238E27FC236}">
                <a16:creationId xmlns:a16="http://schemas.microsoft.com/office/drawing/2014/main" id="{B8CE6F57-34E5-0225-D5A4-CA0BB051A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219" y="14453"/>
            <a:ext cx="2388781" cy="1059436"/>
          </a:xfrm>
          <a:prstGeom prst="rect">
            <a:avLst/>
          </a:prstGeom>
          <a:noFill/>
        </p:spPr>
      </p:pic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6DFAD217-CF9A-A3BD-7FE3-B4BD27F115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1009A-0C0C-1EE7-DE4D-B7BD90CA5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257844"/>
            <a:ext cx="11722203" cy="525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0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60" y="89511"/>
            <a:ext cx="8672118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endParaRPr dirty="0">
              <a:solidFill>
                <a:prstClr val="black"/>
              </a:solidFill>
              <a:latin typeface="Calibri"/>
            </a:endParaRPr>
          </a:p>
          <a:p>
            <a:pPr defTabSz="457200">
              <a:defRPr sz="2800" b="1">
                <a:solidFill>
                  <a:srgbClr val="003366"/>
                </a:solidFill>
              </a:defRPr>
            </a:pPr>
            <a:r>
              <a:rPr sz="2800" b="1" dirty="0">
                <a:solidFill>
                  <a:srgbClr val="003366"/>
                </a:solidFill>
                <a:latin typeface="Calibri"/>
              </a:rPr>
              <a:t>Study Progress – Control Group Recruitment &amp;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789" y="5530062"/>
            <a:ext cx="6855851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endParaRPr dirty="0">
              <a:solidFill>
                <a:prstClr val="black"/>
              </a:solidFill>
              <a:latin typeface="Calibri"/>
            </a:endParaRPr>
          </a:p>
          <a:p>
            <a:pPr defTabSz="457200">
              <a:defRPr sz="2000" b="1">
                <a:solidFill>
                  <a:srgbClr val="006600"/>
                </a:solidFill>
              </a:defRPr>
            </a:pPr>
            <a:r>
              <a:rPr sz="2000" b="1" dirty="0">
                <a:solidFill>
                  <a:srgbClr val="006600"/>
                </a:solidFill>
                <a:latin typeface="Calibri"/>
              </a:rPr>
              <a:t>Key Takeaway: Recruitment nearly complete.</a:t>
            </a:r>
            <a:br>
              <a:rPr sz="2000" b="1" dirty="0">
                <a:solidFill>
                  <a:srgbClr val="006600"/>
                </a:solidFill>
                <a:latin typeface="Calibri"/>
              </a:rPr>
            </a:br>
            <a:r>
              <a:rPr sz="2000" b="1" dirty="0">
                <a:solidFill>
                  <a:srgbClr val="006600"/>
                </a:solidFill>
                <a:latin typeface="Calibri"/>
              </a:rPr>
              <a:t>Retention remains strong until Month 3,</a:t>
            </a:r>
            <a:r>
              <a:rPr lang="en-GB" sz="2000" b="1" dirty="0">
                <a:solidFill>
                  <a:srgbClr val="006600"/>
                </a:solidFill>
                <a:latin typeface="Calibri"/>
              </a:rPr>
              <a:t> slight drop in month 4</a:t>
            </a:r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65F3A407-E94A-BFD9-91A4-E66B432129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K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Output image">
            <a:extLst>
              <a:ext uri="{FF2B5EF4-FFF2-40B4-BE49-F238E27FC236}">
                <a16:creationId xmlns:a16="http://schemas.microsoft.com/office/drawing/2014/main" id="{98A1BD02-D7E4-01A3-02C4-47BE18819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K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AutoShape 6" descr="Output image">
            <a:extLst>
              <a:ext uri="{FF2B5EF4-FFF2-40B4-BE49-F238E27FC236}">
                <a16:creationId xmlns:a16="http://schemas.microsoft.com/office/drawing/2014/main" id="{1B6491F2-A42F-EA39-00DE-A4008CBC3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KE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Picture Placeholder 5" descr="A logo of a person holding a baby&#10;&#10;AI-generated content may be incorrect.">
            <a:extLst>
              <a:ext uri="{FF2B5EF4-FFF2-40B4-BE49-F238E27FC236}">
                <a16:creationId xmlns:a16="http://schemas.microsoft.com/office/drawing/2014/main" id="{EC9F0EA6-6C9B-821A-C5E1-DE5CA397D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043" y="108858"/>
            <a:ext cx="2004094" cy="1682872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6149D8-F339-B388-894D-6D0414C3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5" y="1523902"/>
            <a:ext cx="11490949" cy="4108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baby grabbing a hand">
            <a:extLst>
              <a:ext uri="{FF2B5EF4-FFF2-40B4-BE49-F238E27FC236}">
                <a16:creationId xmlns:a16="http://schemas.microsoft.com/office/drawing/2014/main" id="{AD051E00-08F3-008A-7840-C9B2E2EF91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" r="4967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E638D-A148-C9D1-DBE6-048BAD81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Who can be a peer mother?.....</a:t>
            </a:r>
            <a:endParaRPr lang="en-KE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A9B78-C780-889B-DC7C-B31B4DC8A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8292"/>
            <a:ext cx="5202195" cy="4584357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Cared for a LBW infant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Community breastfeeding champion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Volunteer to support mothers of LBW infants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Literacy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Able to read and write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Age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Minimum age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15 years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Role and supervision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Ratio of 1 peer mother : 2-3 LBW mothers</a:t>
            </a:r>
          </a:p>
          <a:p>
            <a:pPr>
              <a:lnSpc>
                <a:spcPct val="90000"/>
              </a:lnSpc>
            </a:pPr>
            <a:endParaRPr lang="en-KE" sz="1600" dirty="0"/>
          </a:p>
        </p:txBody>
      </p:sp>
    </p:spTree>
    <p:extLst>
      <p:ext uri="{BB962C8B-B14F-4D97-AF65-F5344CB8AC3E}">
        <p14:creationId xmlns:p14="http://schemas.microsoft.com/office/powerpoint/2010/main" val="399329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35BD-2C73-557D-28FE-B08BCA0C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2D4A6F1-4299-039A-3210-A342CA41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278129"/>
            <a:ext cx="3841716" cy="1156035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Peer mother recruitment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B5CF2-24DC-68BC-2BFE-99E269D687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3236235" cy="3903346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 mother recruitment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process;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of GPS data coordinates collected during baseline for control group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Collaboration with the CHP leadership team in the catchment area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Health records.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r>
              <a:rPr lang="en-US" dirty="0">
                <a:solidFill>
                  <a:schemeClr val="bg1"/>
                </a:solidFill>
              </a:rPr>
              <a:t>							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A233F1F-71FC-8756-F647-4423EF564EE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4139515" y="0"/>
            <a:ext cx="8052486" cy="6858000"/>
          </a:xfrm>
          <a:prstGeom prst="rect">
            <a:avLst/>
          </a:prstGeom>
        </p:spPr>
      </p:pic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2B6AFB8-A7B6-05EE-CF04-0F1EDCF84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04181"/>
              </p:ext>
            </p:extLst>
          </p:nvPr>
        </p:nvGraphicFramePr>
        <p:xfrm>
          <a:off x="1234577" y="5572554"/>
          <a:ext cx="9779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541800" imgH="468000" progId="Package">
                  <p:embed/>
                </p:oleObj>
              </mc:Choice>
              <mc:Fallback>
                <p:oleObj name="Packager Shell Object" showAsIcon="1" r:id="rId4" imgW="541800" imgH="468000" progId="Package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62B6AFB8-A7B6-05EE-CF04-0F1EDCF84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4577" y="5572554"/>
                        <a:ext cx="977900" cy="8477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n w="38100">
                        <a:solidFill>
                          <a:srgbClr val="FFC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73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2B40C-E2D9-E942-9692-3EDFD01CDE9A}"/>
              </a:ext>
            </a:extLst>
          </p:cNvPr>
          <p:cNvSpPr txBox="1"/>
          <p:nvPr/>
        </p:nvSpPr>
        <p:spPr>
          <a:xfrm>
            <a:off x="2261286" y="306186"/>
            <a:ext cx="71929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08204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 mother selection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F742205-8E90-A140-BCFD-0C8B2F864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1670539"/>
            <a:ext cx="6261771" cy="1736481"/>
          </a:xfrm>
          <a:custGeom>
            <a:avLst/>
            <a:gdLst>
              <a:gd name="T0" fmla="*/ 8657 w 10050"/>
              <a:gd name="T1" fmla="*/ 0 h 2788"/>
              <a:gd name="T2" fmla="*/ 7263 w 10050"/>
              <a:gd name="T3" fmla="*/ 1394 h 2788"/>
              <a:gd name="T4" fmla="*/ 6917 w 10050"/>
              <a:gd name="T5" fmla="*/ 1740 h 2788"/>
              <a:gd name="T6" fmla="*/ 0 w 10050"/>
              <a:gd name="T7" fmla="*/ 1740 h 2788"/>
              <a:gd name="T8" fmla="*/ 0 w 10050"/>
              <a:gd name="T9" fmla="*/ 2086 h 2788"/>
              <a:gd name="T10" fmla="*/ 6917 w 10050"/>
              <a:gd name="T11" fmla="*/ 2086 h 2788"/>
              <a:gd name="T12" fmla="*/ 7609 w 10050"/>
              <a:gd name="T13" fmla="*/ 1394 h 2788"/>
              <a:gd name="T14" fmla="*/ 8657 w 10050"/>
              <a:gd name="T15" fmla="*/ 346 h 2788"/>
              <a:gd name="T16" fmla="*/ 9704 w 10050"/>
              <a:gd name="T17" fmla="*/ 1394 h 2788"/>
              <a:gd name="T18" fmla="*/ 8657 w 10050"/>
              <a:gd name="T19" fmla="*/ 2441 h 2788"/>
              <a:gd name="T20" fmla="*/ 8657 w 10050"/>
              <a:gd name="T21" fmla="*/ 2787 h 2788"/>
              <a:gd name="T22" fmla="*/ 10049 w 10050"/>
              <a:gd name="T23" fmla="*/ 1394 h 2788"/>
              <a:gd name="T24" fmla="*/ 8657 w 10050"/>
              <a:gd name="T25" fmla="*/ 0 h 2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050" h="2788">
                <a:moveTo>
                  <a:pt x="8657" y="0"/>
                </a:moveTo>
                <a:cubicBezTo>
                  <a:pt x="7888" y="0"/>
                  <a:pt x="7263" y="625"/>
                  <a:pt x="7263" y="1394"/>
                </a:cubicBezTo>
                <a:cubicBezTo>
                  <a:pt x="7263" y="1584"/>
                  <a:pt x="7108" y="1740"/>
                  <a:pt x="6917" y="1740"/>
                </a:cubicBezTo>
                <a:lnTo>
                  <a:pt x="0" y="1740"/>
                </a:lnTo>
                <a:lnTo>
                  <a:pt x="0" y="2086"/>
                </a:lnTo>
                <a:lnTo>
                  <a:pt x="6917" y="2086"/>
                </a:lnTo>
                <a:cubicBezTo>
                  <a:pt x="7299" y="2086"/>
                  <a:pt x="7609" y="1775"/>
                  <a:pt x="7609" y="1394"/>
                </a:cubicBezTo>
                <a:cubicBezTo>
                  <a:pt x="7609" y="816"/>
                  <a:pt x="8079" y="346"/>
                  <a:pt x="8657" y="346"/>
                </a:cubicBezTo>
                <a:cubicBezTo>
                  <a:pt x="9234" y="346"/>
                  <a:pt x="9704" y="816"/>
                  <a:pt x="9704" y="1394"/>
                </a:cubicBezTo>
                <a:cubicBezTo>
                  <a:pt x="9704" y="1971"/>
                  <a:pt x="9234" y="2441"/>
                  <a:pt x="8657" y="2441"/>
                </a:cubicBezTo>
                <a:lnTo>
                  <a:pt x="8657" y="2787"/>
                </a:lnTo>
                <a:cubicBezTo>
                  <a:pt x="9425" y="2787"/>
                  <a:pt x="10049" y="2162"/>
                  <a:pt x="10049" y="1394"/>
                </a:cubicBezTo>
                <a:cubicBezTo>
                  <a:pt x="10049" y="625"/>
                  <a:pt x="9425" y="0"/>
                  <a:pt x="8657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3BB290B-F028-1D40-9F97-97A6C0A64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6878" y="3192707"/>
            <a:ext cx="1736481" cy="1736481"/>
          </a:xfrm>
          <a:custGeom>
            <a:avLst/>
            <a:gdLst>
              <a:gd name="T0" fmla="*/ 1394 w 2788"/>
              <a:gd name="T1" fmla="*/ 2786 h 2787"/>
              <a:gd name="T2" fmla="*/ 0 w 2788"/>
              <a:gd name="T3" fmla="*/ 1393 h 2787"/>
              <a:gd name="T4" fmla="*/ 1394 w 2788"/>
              <a:gd name="T5" fmla="*/ 0 h 2787"/>
              <a:gd name="T6" fmla="*/ 1394 w 2788"/>
              <a:gd name="T7" fmla="*/ 346 h 2787"/>
              <a:gd name="T8" fmla="*/ 346 w 2788"/>
              <a:gd name="T9" fmla="*/ 1393 h 2787"/>
              <a:gd name="T10" fmla="*/ 1394 w 2788"/>
              <a:gd name="T11" fmla="*/ 2440 h 2787"/>
              <a:gd name="T12" fmla="*/ 2441 w 2788"/>
              <a:gd name="T13" fmla="*/ 1393 h 2787"/>
              <a:gd name="T14" fmla="*/ 2787 w 2788"/>
              <a:gd name="T15" fmla="*/ 1393 h 2787"/>
              <a:gd name="T16" fmla="*/ 1394 w 2788"/>
              <a:gd name="T17" fmla="*/ 2786 h 27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8" h="2787">
                <a:moveTo>
                  <a:pt x="1394" y="2786"/>
                </a:moveTo>
                <a:cubicBezTo>
                  <a:pt x="625" y="2786"/>
                  <a:pt x="0" y="2162"/>
                  <a:pt x="0" y="1393"/>
                </a:cubicBezTo>
                <a:cubicBezTo>
                  <a:pt x="0" y="625"/>
                  <a:pt x="625" y="0"/>
                  <a:pt x="1394" y="0"/>
                </a:cubicBezTo>
                <a:lnTo>
                  <a:pt x="1394" y="346"/>
                </a:lnTo>
                <a:cubicBezTo>
                  <a:pt x="816" y="346"/>
                  <a:pt x="346" y="815"/>
                  <a:pt x="346" y="1393"/>
                </a:cubicBezTo>
                <a:cubicBezTo>
                  <a:pt x="346" y="1970"/>
                  <a:pt x="816" y="2440"/>
                  <a:pt x="1394" y="2440"/>
                </a:cubicBezTo>
                <a:cubicBezTo>
                  <a:pt x="1971" y="2440"/>
                  <a:pt x="2441" y="1970"/>
                  <a:pt x="2441" y="1393"/>
                </a:cubicBezTo>
                <a:lnTo>
                  <a:pt x="2787" y="1393"/>
                </a:lnTo>
                <a:cubicBezTo>
                  <a:pt x="2787" y="2162"/>
                  <a:pt x="2162" y="2786"/>
                  <a:pt x="1394" y="278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8C5019-75BF-7548-A2E5-6D3A6A303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299" y="3192707"/>
            <a:ext cx="1736481" cy="1736481"/>
          </a:xfrm>
          <a:custGeom>
            <a:avLst/>
            <a:gdLst>
              <a:gd name="T0" fmla="*/ 1393 w 2788"/>
              <a:gd name="T1" fmla="*/ 2786 h 2787"/>
              <a:gd name="T2" fmla="*/ 1393 w 2788"/>
              <a:gd name="T3" fmla="*/ 2440 h 2787"/>
              <a:gd name="T4" fmla="*/ 2441 w 2788"/>
              <a:gd name="T5" fmla="*/ 1393 h 2787"/>
              <a:gd name="T6" fmla="*/ 1393 w 2788"/>
              <a:gd name="T7" fmla="*/ 346 h 2787"/>
              <a:gd name="T8" fmla="*/ 346 w 2788"/>
              <a:gd name="T9" fmla="*/ 1393 h 2787"/>
              <a:gd name="T10" fmla="*/ 0 w 2788"/>
              <a:gd name="T11" fmla="*/ 1393 h 2787"/>
              <a:gd name="T12" fmla="*/ 1393 w 2788"/>
              <a:gd name="T13" fmla="*/ 0 h 2787"/>
              <a:gd name="T14" fmla="*/ 2787 w 2788"/>
              <a:gd name="T15" fmla="*/ 1393 h 2787"/>
              <a:gd name="T16" fmla="*/ 1393 w 2788"/>
              <a:gd name="T17" fmla="*/ 2786 h 27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8" h="2787">
                <a:moveTo>
                  <a:pt x="1393" y="2786"/>
                </a:moveTo>
                <a:lnTo>
                  <a:pt x="1393" y="2440"/>
                </a:lnTo>
                <a:cubicBezTo>
                  <a:pt x="1971" y="2440"/>
                  <a:pt x="2441" y="1970"/>
                  <a:pt x="2441" y="1393"/>
                </a:cubicBezTo>
                <a:cubicBezTo>
                  <a:pt x="2441" y="815"/>
                  <a:pt x="1971" y="346"/>
                  <a:pt x="1393" y="346"/>
                </a:cubicBezTo>
                <a:cubicBezTo>
                  <a:pt x="816" y="346"/>
                  <a:pt x="346" y="815"/>
                  <a:pt x="346" y="1393"/>
                </a:cubicBezTo>
                <a:lnTo>
                  <a:pt x="0" y="1393"/>
                </a:lnTo>
                <a:cubicBezTo>
                  <a:pt x="0" y="625"/>
                  <a:pt x="625" y="0"/>
                  <a:pt x="1393" y="0"/>
                </a:cubicBezTo>
                <a:cubicBezTo>
                  <a:pt x="2162" y="0"/>
                  <a:pt x="2787" y="625"/>
                  <a:pt x="2787" y="1393"/>
                </a:cubicBezTo>
                <a:cubicBezTo>
                  <a:pt x="2787" y="2162"/>
                  <a:pt x="2162" y="2786"/>
                  <a:pt x="1393" y="278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7C75582-B989-BD4C-A7F5-151AB51B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299" y="4712129"/>
            <a:ext cx="6146372" cy="1736481"/>
          </a:xfrm>
          <a:custGeom>
            <a:avLst/>
            <a:gdLst>
              <a:gd name="T0" fmla="*/ 3133 w 9866"/>
              <a:gd name="T1" fmla="*/ 701 h 2788"/>
              <a:gd name="T2" fmla="*/ 2441 w 9866"/>
              <a:gd name="T3" fmla="*/ 1394 h 2788"/>
              <a:gd name="T4" fmla="*/ 1393 w 9866"/>
              <a:gd name="T5" fmla="*/ 2441 h 2788"/>
              <a:gd name="T6" fmla="*/ 346 w 9866"/>
              <a:gd name="T7" fmla="*/ 1394 h 2788"/>
              <a:gd name="T8" fmla="*/ 1393 w 9866"/>
              <a:gd name="T9" fmla="*/ 346 h 2788"/>
              <a:gd name="T10" fmla="*/ 1393 w 9866"/>
              <a:gd name="T11" fmla="*/ 0 h 2788"/>
              <a:gd name="T12" fmla="*/ 0 w 9866"/>
              <a:gd name="T13" fmla="*/ 1394 h 2788"/>
              <a:gd name="T14" fmla="*/ 1393 w 9866"/>
              <a:gd name="T15" fmla="*/ 2787 h 2788"/>
              <a:gd name="T16" fmla="*/ 2787 w 9866"/>
              <a:gd name="T17" fmla="*/ 1394 h 2788"/>
              <a:gd name="T18" fmla="*/ 3133 w 9866"/>
              <a:gd name="T19" fmla="*/ 1047 h 2788"/>
              <a:gd name="T20" fmla="*/ 9865 w 9866"/>
              <a:gd name="T21" fmla="*/ 1047 h 2788"/>
              <a:gd name="T22" fmla="*/ 9865 w 9866"/>
              <a:gd name="T23" fmla="*/ 701 h 2788"/>
              <a:gd name="T24" fmla="*/ 3133 w 9866"/>
              <a:gd name="T25" fmla="*/ 701 h 2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66" h="2788">
                <a:moveTo>
                  <a:pt x="3133" y="701"/>
                </a:moveTo>
                <a:cubicBezTo>
                  <a:pt x="2751" y="701"/>
                  <a:pt x="2441" y="1012"/>
                  <a:pt x="2441" y="1394"/>
                </a:cubicBezTo>
                <a:cubicBezTo>
                  <a:pt x="2441" y="1971"/>
                  <a:pt x="1970" y="2441"/>
                  <a:pt x="1393" y="2441"/>
                </a:cubicBezTo>
                <a:cubicBezTo>
                  <a:pt x="816" y="2441"/>
                  <a:pt x="346" y="1971"/>
                  <a:pt x="346" y="1394"/>
                </a:cubicBezTo>
                <a:cubicBezTo>
                  <a:pt x="346" y="816"/>
                  <a:pt x="816" y="346"/>
                  <a:pt x="1393" y="346"/>
                </a:cubicBezTo>
                <a:lnTo>
                  <a:pt x="1393" y="0"/>
                </a:lnTo>
                <a:cubicBezTo>
                  <a:pt x="625" y="0"/>
                  <a:pt x="0" y="626"/>
                  <a:pt x="0" y="1394"/>
                </a:cubicBezTo>
                <a:cubicBezTo>
                  <a:pt x="0" y="2162"/>
                  <a:pt x="625" y="2787"/>
                  <a:pt x="1393" y="2787"/>
                </a:cubicBezTo>
                <a:cubicBezTo>
                  <a:pt x="2162" y="2787"/>
                  <a:pt x="2787" y="2162"/>
                  <a:pt x="2787" y="1394"/>
                </a:cubicBezTo>
                <a:cubicBezTo>
                  <a:pt x="2787" y="1203"/>
                  <a:pt x="2942" y="1047"/>
                  <a:pt x="3133" y="1047"/>
                </a:cubicBezTo>
                <a:lnTo>
                  <a:pt x="9865" y="1047"/>
                </a:lnTo>
                <a:lnTo>
                  <a:pt x="9865" y="701"/>
                </a:lnTo>
                <a:lnTo>
                  <a:pt x="3133" y="701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B13B242-87E7-CE40-89AC-DB50E502EE38}"/>
              </a:ext>
            </a:extLst>
          </p:cNvPr>
          <p:cNvSpPr txBox="1">
            <a:spLocks/>
          </p:cNvSpPr>
          <p:nvPr/>
        </p:nvSpPr>
        <p:spPr>
          <a:xfrm>
            <a:off x="6611267" y="2193126"/>
            <a:ext cx="2842931" cy="797270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1750"/>
              </a:lnSpc>
            </a:pPr>
            <a:r>
              <a:rPr lang="en-US" sz="12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60 potential peer mothers selected for training</a:t>
            </a:r>
          </a:p>
          <a:p>
            <a:pPr algn="l" defTabSz="543818">
              <a:lnSpc>
                <a:spcPts val="1750"/>
              </a:lnSpc>
            </a:pP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- CHPs will join the 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48E83-6AB6-4C4C-9A16-3E32681F73FA}"/>
              </a:ext>
            </a:extLst>
          </p:cNvPr>
          <p:cNvSpPr txBox="1"/>
          <p:nvPr/>
        </p:nvSpPr>
        <p:spPr>
          <a:xfrm>
            <a:off x="6611267" y="1609773"/>
            <a:ext cx="229562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3200" b="1" dirty="0">
                <a:solidFill>
                  <a:srgbClr val="08204C"/>
                </a:solidFill>
                <a:latin typeface="Calibri" panose="020F0502020204030204" pitchFamily="34" charset="0"/>
                <a:ea typeface="League Spartan" charset="0"/>
                <a:cs typeface="Calibri" panose="020F0502020204030204" pitchFamily="34" charset="0"/>
              </a:rPr>
              <a:t>Recruitment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F0AF687-F269-6545-AFED-59214F1F58A0}"/>
              </a:ext>
            </a:extLst>
          </p:cNvPr>
          <p:cNvSpPr txBox="1">
            <a:spLocks/>
          </p:cNvSpPr>
          <p:nvPr/>
        </p:nvSpPr>
        <p:spPr>
          <a:xfrm>
            <a:off x="8123687" y="3690456"/>
            <a:ext cx="2842931" cy="566437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defTabSz="543818">
              <a:lnSpc>
                <a:spcPts val="1750"/>
              </a:lnSpc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Assessed through role plays</a:t>
            </a:r>
            <a:endParaRPr lang="en-US" sz="1800" dirty="0">
              <a:solidFill>
                <a:srgbClr val="AAAAAA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 defTabSz="543818">
              <a:lnSpc>
                <a:spcPts val="1750"/>
              </a:lnSpc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Knowledge assessment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8405D-89AE-0F45-B5A7-7898D64217B8}"/>
              </a:ext>
            </a:extLst>
          </p:cNvPr>
          <p:cNvSpPr txBox="1"/>
          <p:nvPr/>
        </p:nvSpPr>
        <p:spPr>
          <a:xfrm>
            <a:off x="8123686" y="3107103"/>
            <a:ext cx="304942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3200" b="1" dirty="0">
                <a:solidFill>
                  <a:srgbClr val="08204C"/>
                </a:solidFill>
                <a:latin typeface="Calibri" panose="020F0502020204030204" pitchFamily="34" charset="0"/>
                <a:ea typeface="League Spartan" charset="0"/>
                <a:cs typeface="Calibri" panose="020F0502020204030204" pitchFamily="34" charset="0"/>
              </a:rPr>
              <a:t>Competency test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5407FAD-DF22-864E-85F2-0CDC09D94BDC}"/>
              </a:ext>
            </a:extLst>
          </p:cNvPr>
          <p:cNvSpPr txBox="1">
            <a:spLocks/>
          </p:cNvSpPr>
          <p:nvPr/>
        </p:nvSpPr>
        <p:spPr>
          <a:xfrm>
            <a:off x="3105412" y="5972785"/>
            <a:ext cx="2842931" cy="280205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1750"/>
              </a:lnSpc>
            </a:pPr>
            <a:r>
              <a:rPr lang="en-US" sz="16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- </a:t>
            </a: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50 peer mothers  </a:t>
            </a:r>
            <a:r>
              <a:rPr lang="en-US" sz="12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0CAFE-3FDA-C749-A734-C6975EA188B8}"/>
              </a:ext>
            </a:extLst>
          </p:cNvPr>
          <p:cNvSpPr txBox="1"/>
          <p:nvPr/>
        </p:nvSpPr>
        <p:spPr>
          <a:xfrm>
            <a:off x="2955077" y="5380854"/>
            <a:ext cx="2717411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 defTabSz="914217"/>
            <a:r>
              <a:rPr lang="en-US" sz="3200" b="1" dirty="0">
                <a:solidFill>
                  <a:srgbClr val="08204C"/>
                </a:solidFill>
                <a:latin typeface="Calibri" panose="020F0502020204030204" pitchFamily="34" charset="0"/>
                <a:ea typeface="League Spartan" charset="0"/>
                <a:cs typeface="Calibri" panose="020F0502020204030204" pitchFamily="34" charset="0"/>
              </a:rPr>
              <a:t>Final selection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92AF189-BA17-2B42-817F-AE5C0E459712}"/>
              </a:ext>
            </a:extLst>
          </p:cNvPr>
          <p:cNvSpPr txBox="1">
            <a:spLocks/>
          </p:cNvSpPr>
          <p:nvPr/>
        </p:nvSpPr>
        <p:spPr>
          <a:xfrm>
            <a:off x="259492" y="3857013"/>
            <a:ext cx="4151869" cy="1590115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KE" dirty="0"/>
              <a:t>📚 </a:t>
            </a:r>
            <a:r>
              <a:rPr lang="en-US" sz="1800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10-day training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 skills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psychological support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 promotion interventions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Interventions for sick infants</a:t>
            </a:r>
          </a:p>
          <a:p>
            <a:pPr algn="r" defTabSz="543818">
              <a:lnSpc>
                <a:spcPts val="1750"/>
              </a:lnSpc>
            </a:pPr>
            <a:r>
              <a:rPr lang="en-US" dirty="0">
                <a:latin typeface="Calibri" panose="020F0502020204030204" pitchFamily="34" charset="0"/>
                <a:ea typeface="Lato Light" panose="020F0502020204030203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353D0-7AA1-9646-9ECE-426310AFBE64}"/>
              </a:ext>
            </a:extLst>
          </p:cNvPr>
          <p:cNvSpPr txBox="1"/>
          <p:nvPr/>
        </p:nvSpPr>
        <p:spPr>
          <a:xfrm>
            <a:off x="2643777" y="3273660"/>
            <a:ext cx="1541191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 defTabSz="914217"/>
            <a:r>
              <a:rPr lang="en-US" sz="3200" b="1" dirty="0">
                <a:solidFill>
                  <a:srgbClr val="08204C"/>
                </a:solidFill>
                <a:ea typeface="League Spartan" charset="0"/>
                <a:cs typeface="Poppins" pitchFamily="2" charset="77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6A1E05-4BA9-ED44-823F-7A17034B9DBD}"/>
              </a:ext>
            </a:extLst>
          </p:cNvPr>
          <p:cNvSpPr txBox="1"/>
          <p:nvPr/>
        </p:nvSpPr>
        <p:spPr>
          <a:xfrm>
            <a:off x="5194581" y="2146365"/>
            <a:ext cx="401072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35CA78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A686A1-C7FC-0247-8C7E-B3FA3EC2DD5D}"/>
              </a:ext>
            </a:extLst>
          </p:cNvPr>
          <p:cNvSpPr txBox="1"/>
          <p:nvPr/>
        </p:nvSpPr>
        <p:spPr>
          <a:xfrm>
            <a:off x="5137675" y="3646085"/>
            <a:ext cx="514885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23A4A7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AA1A41-EDB2-F442-AC86-E52B4E65B59F}"/>
              </a:ext>
            </a:extLst>
          </p:cNvPr>
          <p:cNvSpPr txBox="1"/>
          <p:nvPr/>
        </p:nvSpPr>
        <p:spPr>
          <a:xfrm>
            <a:off x="6647478" y="3646085"/>
            <a:ext cx="534121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1060B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C5303-E623-594E-9F0E-30D55B6E819E}"/>
              </a:ext>
            </a:extLst>
          </p:cNvPr>
          <p:cNvSpPr txBox="1"/>
          <p:nvPr/>
        </p:nvSpPr>
        <p:spPr>
          <a:xfrm>
            <a:off x="6626639" y="5187955"/>
            <a:ext cx="575800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566A7C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148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3698-2A38-C7DB-318B-CC690619B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6"/>
            <a:ext cx="10873740" cy="823882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E942F-7B00-4B25-D535-6140E27B5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22342" y="1173893"/>
            <a:ext cx="9288426" cy="5474707"/>
          </a:xfrm>
        </p:spPr>
        <p:txBody>
          <a:bodyPr>
            <a:normAutofit/>
          </a:bodyPr>
          <a:lstStyle/>
          <a:p>
            <a:pPr marL="402336" lvl="1" indent="0">
              <a:buNone/>
            </a:pP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Recruitment</a:t>
            </a:r>
          </a:p>
          <a:p>
            <a:pPr marL="1373886" lvl="2" indent="-514350">
              <a:buAutoNum type="arabicPeriod"/>
            </a:pP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What adjustments can strengthen our recruitment approach?</a:t>
            </a:r>
          </a:p>
          <a:p>
            <a:pPr marL="1373886" lvl="2" indent="-514350">
              <a:buAutoNum type="arabicPeriod"/>
            </a:pP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How do we balance between recruiting experienced mothers of LBW infants vs community breastfeeding champions?</a:t>
            </a:r>
          </a:p>
          <a:p>
            <a:pPr marL="1373886" lvl="2" indent="-514350">
              <a:buAutoNum type="arabicPeriod"/>
            </a:pP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What strategies can we use to ensure sustainability and reduce drop-outs among peer mothers?</a:t>
            </a:r>
          </a:p>
          <a:p>
            <a:pPr marL="514350" indent="-514350">
              <a:buAutoNum type="arabicPeriod"/>
            </a:pPr>
            <a:endParaRPr 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72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453C-4CD8-451D-F701-CE7E102C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789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Discussion cont’d…</a:t>
            </a:r>
            <a:endParaRPr lang="en-K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6267-1A86-0F27-AD8E-0F88ADF33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49425" y="1050408"/>
            <a:ext cx="8901851" cy="4938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Timing &amp; linkage with participants</a:t>
            </a:r>
          </a:p>
          <a:p>
            <a:pPr marL="457200" indent="-457200"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Should peer mother linkage with participants happen at the facility or later in the community?</a:t>
            </a:r>
          </a:p>
          <a:p>
            <a:pPr marL="457200" indent="-457200"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What are the pros and cons of linking at the facility vs at home?</a:t>
            </a:r>
          </a:p>
          <a:p>
            <a:pPr marL="457200" indent="-457200"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How do we ensure families accept and trust the peer mother at first contact?</a:t>
            </a:r>
            <a:endParaRPr lang="en-KE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5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68EB-765F-3228-5FF1-EFF5CB73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789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Discussion cont’d…</a:t>
            </a:r>
            <a:endParaRPr lang="en-K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35A5-D7E4-737A-7E53-91E8273FC9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1219200"/>
            <a:ext cx="7810500" cy="4762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Role of CHPs</a:t>
            </a:r>
          </a:p>
          <a:p>
            <a:pPr marL="514350" indent="-514350"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How can we define clear roles between CHPs and peer mothers to avoid duplication?</a:t>
            </a:r>
          </a:p>
          <a:p>
            <a:pPr marL="514350" indent="-514350">
              <a:buAutoNum type="arabicPeriod"/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What structures (supervision, reporting, joint visits) will best support collaboration between CHPs and peer mothers?</a:t>
            </a:r>
            <a:endParaRPr lang="en-KE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24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8998-587B-42F1-DE0D-B25E6899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1356-98B2-DD59-6530-AA83B928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" name="Content Placeholder 6" descr="A person thinking about questions&#10;&#10;AI-generated content may be incorrect.">
            <a:extLst>
              <a:ext uri="{FF2B5EF4-FFF2-40B4-BE49-F238E27FC236}">
                <a16:creationId xmlns:a16="http://schemas.microsoft.com/office/drawing/2014/main" id="{C0BCA0DA-92D5-576B-9CC0-73E9024B34E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-1"/>
            <a:ext cx="6517481" cy="6977743"/>
          </a:xfrm>
        </p:spPr>
      </p:pic>
      <p:pic>
        <p:nvPicPr>
          <p:cNvPr id="3" name="Picture Placeholder 5" descr="A logo of a person holding a baby&#10;&#10;AI-generated content may be incorrect.">
            <a:extLst>
              <a:ext uri="{FF2B5EF4-FFF2-40B4-BE49-F238E27FC236}">
                <a16:creationId xmlns:a16="http://schemas.microsoft.com/office/drawing/2014/main" id="{3F0AEA4F-2E37-2DD7-9924-6E6CDEB61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878" y="108858"/>
            <a:ext cx="3076259" cy="13253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924525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fault Theme">
  <a:themeElements>
    <a:clrScheme name="SM - Theme 19 - Light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35CA78"/>
      </a:accent1>
      <a:accent2>
        <a:srgbClr val="23A4A7"/>
      </a:accent2>
      <a:accent3>
        <a:srgbClr val="1060B1"/>
      </a:accent3>
      <a:accent4>
        <a:srgbClr val="566A7C"/>
      </a:accent4>
      <a:accent5>
        <a:srgbClr val="98A9BC"/>
      </a:accent5>
      <a:accent6>
        <a:srgbClr val="52647F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{189F0083-E49B-45AC-812E-C575E76CF929}TFd3b75063-ff25-434d-b12c-efeaf07d16c3292f62b5_win32-75a75c970d8e</Template>
  <TotalTime>5374</TotalTime>
  <Words>360</Words>
  <Application>Microsoft Office PowerPoint</Application>
  <PresentationFormat>Widescreen</PresentationFormat>
  <Paragraphs>79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Franklin Gothic Book</vt:lpstr>
      <vt:lpstr>Franklin Gothic Demi</vt:lpstr>
      <vt:lpstr>Lato Light</vt:lpstr>
      <vt:lpstr>League Spartan</vt:lpstr>
      <vt:lpstr>Poppins</vt:lpstr>
      <vt:lpstr>Poppins Light</vt:lpstr>
      <vt:lpstr>Custom</vt:lpstr>
      <vt:lpstr>Office Theme</vt:lpstr>
      <vt:lpstr>Default Theme</vt:lpstr>
      <vt:lpstr>Packager Shell Object</vt:lpstr>
      <vt:lpstr>Kilifi SCHMT Meeting  ARL-Low Birth Weight Infant Study   10 Nov 2025   Prepared and presented by; ARL-LBW team </vt:lpstr>
      <vt:lpstr>Agenda</vt:lpstr>
      <vt:lpstr>Study progress</vt:lpstr>
      <vt:lpstr>Study progress cont’d…</vt:lpstr>
      <vt:lpstr>PowerPoint Presentation</vt:lpstr>
      <vt:lpstr>Who can be a peer mother?.....</vt:lpstr>
      <vt:lpstr>Peer mother recruitment</vt:lpstr>
      <vt:lpstr>PowerPoint Presentation</vt:lpstr>
      <vt:lpstr>Discussion</vt:lpstr>
      <vt:lpstr>Discussion cont’d…</vt:lpstr>
      <vt:lpstr>Discussion cont’d…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mwanajuma.khamis</dc:creator>
  <cp:lastModifiedBy>George Obanda</cp:lastModifiedBy>
  <cp:revision>41</cp:revision>
  <dcterms:created xsi:type="dcterms:W3CDTF">2025-09-03T08:27:55Z</dcterms:created>
  <dcterms:modified xsi:type="dcterms:W3CDTF">2025-11-07T23:40:33Z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